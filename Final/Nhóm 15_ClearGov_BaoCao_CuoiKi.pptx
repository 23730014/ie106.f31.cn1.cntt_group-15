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6"/>
  </p:notesMasterIdLst>
  <p:sldIdLst>
    <p:sldId id="456" r:id="rId5"/>
    <p:sldId id="459" r:id="rId6"/>
    <p:sldId id="615" r:id="rId7"/>
    <p:sldId id="616" r:id="rId8"/>
    <p:sldId id="617" r:id="rId9"/>
    <p:sldId id="618" r:id="rId10"/>
    <p:sldId id="619" r:id="rId11"/>
    <p:sldId id="620" r:id="rId12"/>
    <p:sldId id="621" r:id="rId13"/>
    <p:sldId id="622" r:id="rId14"/>
    <p:sldId id="58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5B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D9616-2088-7EE6-9C33-D134C4C42B15}" v="51" dt="2025-07-22T01:32:48.1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3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87A635-B0CF-4472-8408-4DCADBE094B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4633B-F93B-4208-A287-D690BABE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26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/>
          </a:p>
        </p:txBody>
      </p:sp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4633B-F93B-4208-A287-D690BABE2C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00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BAE4-EF96-401E-9835-FEF9D1E36FF4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F271-60DF-4592-BB7F-B45BB444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946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5;p1">
            <a:extLst>
              <a:ext uri="{FF2B5EF4-FFF2-40B4-BE49-F238E27FC236}">
                <a16:creationId xmlns:a16="http://schemas.microsoft.com/office/drawing/2014/main" id="{E9C428B9-BD3B-47CF-96EB-8E8024AAE980}"/>
              </a:ext>
            </a:extLst>
          </p:cNvPr>
          <p:cNvSpPr/>
          <p:nvPr/>
        </p:nvSpPr>
        <p:spPr>
          <a:xfrm>
            <a:off x="0" y="6485045"/>
            <a:ext cx="8594558" cy="364764"/>
          </a:xfrm>
          <a:prstGeom prst="rect">
            <a:avLst/>
          </a:prstGeom>
          <a:solidFill>
            <a:schemeClr val="dk1">
              <a:alpha val="81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56" tIns="68569" rIns="137156" bIns="68569" anchor="ctr" anchorCtr="0">
            <a:noAutofit/>
          </a:bodyPr>
          <a:lstStyle/>
          <a:p>
            <a:pPr marL="1200120" algn="ctr"/>
            <a:r>
              <a:rPr lang="en-US" sz="1200" b="0">
                <a:solidFill>
                  <a:schemeClr val="bg1"/>
                </a:solidFill>
                <a:latin typeface="Arial Nova Cond" panose="020B0506020202020204" pitchFamily="34" charset="0"/>
              </a:rPr>
              <a:t>University of Information Technology (UIT), VNU-HCM</a:t>
            </a:r>
            <a:endParaRPr sz="1200" b="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15" name="Google Shape;109;p1">
            <a:extLst>
              <a:ext uri="{FF2B5EF4-FFF2-40B4-BE49-F238E27FC236}">
                <a16:creationId xmlns:a16="http://schemas.microsoft.com/office/drawing/2014/main" id="{91E4D465-1973-499C-87CE-5A38A4FE5280}"/>
              </a:ext>
            </a:extLst>
          </p:cNvPr>
          <p:cNvSpPr/>
          <p:nvPr userDrawn="1"/>
        </p:nvSpPr>
        <p:spPr>
          <a:xfrm>
            <a:off x="549442" y="6494522"/>
            <a:ext cx="549442" cy="36277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lang="en-US" sz="1500" b="1">
              <a:solidFill>
                <a:schemeClr val="dk1"/>
              </a:solidFill>
            </a:endParaRPr>
          </a:p>
        </p:txBody>
      </p:sp>
      <p:sp>
        <p:nvSpPr>
          <p:cNvPr id="13" name="Google Shape;109;p1">
            <a:extLst>
              <a:ext uri="{FF2B5EF4-FFF2-40B4-BE49-F238E27FC236}">
                <a16:creationId xmlns:a16="http://schemas.microsoft.com/office/drawing/2014/main" id="{16772B44-7759-405B-9C67-35948DD5766F}"/>
              </a:ext>
            </a:extLst>
          </p:cNvPr>
          <p:cNvSpPr/>
          <p:nvPr userDrawn="1"/>
        </p:nvSpPr>
        <p:spPr>
          <a:xfrm>
            <a:off x="8594558" y="6490779"/>
            <a:ext cx="549442" cy="36277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lang="en-US" sz="1500" b="1">
              <a:solidFill>
                <a:schemeClr val="dk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9946" y="144644"/>
            <a:ext cx="8214072" cy="510111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567" y="1009644"/>
            <a:ext cx="8594557" cy="529031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1306" y="6483871"/>
            <a:ext cx="4054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487F271-60DF-4592-BB7F-B45BB4441AA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D47A60E3-3D29-46FE-AB63-A695505C87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4018" y="31224"/>
            <a:ext cx="728362" cy="728362"/>
          </a:xfrm>
          <a:prstGeom prst="rect">
            <a:avLst/>
          </a:prstGeom>
        </p:spPr>
      </p:pic>
      <p:pic>
        <p:nvPicPr>
          <p:cNvPr id="12" name="Picture 1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9D24ADE5-0C5C-44A1-9FF6-58956EF973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71"/>
          <a:stretch/>
        </p:blipFill>
        <p:spPr>
          <a:xfrm>
            <a:off x="8694630" y="6424003"/>
            <a:ext cx="417750" cy="47267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83563C-5C68-4B36-9934-4B1F666D6552}"/>
              </a:ext>
            </a:extLst>
          </p:cNvPr>
          <p:cNvCxnSpPr/>
          <p:nvPr userDrawn="1"/>
        </p:nvCxnSpPr>
        <p:spPr>
          <a:xfrm>
            <a:off x="0" y="832199"/>
            <a:ext cx="91440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82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D31F5-B86C-42C2-9B18-CACBD66E1162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F271-60DF-4592-BB7F-B45BB444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16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8B556-B1D1-491C-89AB-66731DCC77DE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F271-60DF-4592-BB7F-B45BB444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8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D88C-F643-4BA5-9C82-72FA2262C860}" type="datetime1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F271-60DF-4592-BB7F-B45BB444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060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9ABF0-587C-4552-A769-0D8B5734B185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F271-60DF-4592-BB7F-B45BB444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97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393E2-C834-4338-A398-5464AB7866F5}" type="datetime1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F271-60DF-4592-BB7F-B45BB444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61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DBC9-E6B0-4610-A49D-534249B0763B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F271-60DF-4592-BB7F-B45BB444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8F27-1C85-43B1-B996-E57117C13630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F271-60DF-4592-BB7F-B45BB444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9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AC6C-1BC6-47FA-9DC8-070F2A5615A2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F271-60DF-4592-BB7F-B45BB444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53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F4F4-7454-4D5D-B0E5-ADD7BEA612DE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F271-60DF-4592-BB7F-B45BB444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2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87FB8-3E84-421F-B192-10C24D654A3B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7F271-60DF-4592-BB7F-B45BB444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777240" y="1255143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C506E"/>
                </a:solidFill>
                <a:latin typeface="Aptos"/>
              </a:rPr>
              <a:t>BÁO CÁO CUỐI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777240" y="1895223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1156A0"/>
                </a:solidFill>
                <a:latin typeface="Aptos"/>
              </a:rPr>
              <a:t>CLEARGOV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777240" y="2672463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92D4B"/>
                </a:solidFill>
                <a:latin typeface="Aptos"/>
              </a:rPr>
              <a:t>Công cụ đơn giản hóa thủ tục hành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777240" y="3266823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 err="1">
                <a:solidFill>
                  <a:srgbClr val="555F6E"/>
                </a:solidFill>
                <a:latin typeface="Aptos"/>
              </a:rPr>
              <a:t>Thủ</a:t>
            </a:r>
            <a:r>
              <a:rPr sz="1600" b="0" dirty="0">
                <a:solidFill>
                  <a:srgbClr val="555F6E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55F6E"/>
                </a:solidFill>
                <a:latin typeface="Aptos"/>
              </a:rPr>
              <a:t>tục</a:t>
            </a:r>
            <a:r>
              <a:rPr sz="1600" b="0" dirty="0">
                <a:solidFill>
                  <a:srgbClr val="555F6E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55F6E"/>
                </a:solidFill>
                <a:latin typeface="Aptos"/>
              </a:rPr>
              <a:t>rõ</a:t>
            </a:r>
            <a:r>
              <a:rPr sz="1600" b="0" dirty="0">
                <a:solidFill>
                  <a:srgbClr val="555F6E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55F6E"/>
                </a:solidFill>
                <a:latin typeface="Aptos"/>
              </a:rPr>
              <a:t>ràng</a:t>
            </a:r>
            <a:r>
              <a:rPr sz="1600" b="0" dirty="0">
                <a:solidFill>
                  <a:srgbClr val="555F6E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555F6E"/>
                </a:solidFill>
                <a:latin typeface="Aptos"/>
              </a:rPr>
              <a:t>làm</a:t>
            </a:r>
            <a:r>
              <a:rPr sz="1600" b="0" dirty="0">
                <a:solidFill>
                  <a:srgbClr val="555F6E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55F6E"/>
                </a:solidFill>
                <a:latin typeface="Aptos"/>
              </a:rPr>
              <a:t>việc</a:t>
            </a:r>
            <a:r>
              <a:rPr sz="1600" b="0" dirty="0">
                <a:solidFill>
                  <a:srgbClr val="555F6E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55F6E"/>
                </a:solidFill>
                <a:latin typeface="Aptos"/>
              </a:rPr>
              <a:t>dễ</a:t>
            </a:r>
            <a:r>
              <a:rPr sz="1600" b="0" dirty="0">
                <a:solidFill>
                  <a:srgbClr val="555F6E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55F6E"/>
                </a:solidFill>
                <a:latin typeface="Aptos"/>
              </a:rPr>
              <a:t>dàng</a:t>
            </a:r>
            <a:r>
              <a:rPr sz="1600" b="0" dirty="0">
                <a:solidFill>
                  <a:srgbClr val="555F6E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777240" y="3998343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C3C3C"/>
                </a:solidFill>
                <a:latin typeface="Aptos"/>
              </a:rPr>
              <a:t>Môn: Thiết kế giao diện người dùng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777240" y="4428111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C3C3C"/>
                </a:solidFill>
                <a:latin typeface="Aptos"/>
              </a:rPr>
              <a:t>GVHD: Nguyễn Hữu Quyền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868680" y="4912743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C3C3C"/>
                </a:solidFill>
                <a:latin typeface="Aptos"/>
              </a:rPr>
              <a:t>Nhóm 15  •  Phạm Nguyễn Đăng Duy – 23730014  •  Nguyễn Ngọc Thắng – 24730231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777240" y="5369943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6464"/>
                </a:solidFill>
                <a:latin typeface="Aptos"/>
              </a:rPr>
              <a:t>IE106.F31.CN1.CNTT  |  TP. Hồ Chí Minh,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12943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rgbClr val="142D5A"/>
                </a:solidFill>
                <a:latin typeface="Aptos"/>
              </a:rPr>
              <a:t>Nội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5943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 dirty="0">
                <a:solidFill>
                  <a:srgbClr val="186AB7"/>
                </a:solidFill>
                <a:latin typeface="Aptos"/>
              </a:rPr>
              <a:t>1</a:t>
            </a:r>
            <a:endParaRPr sz="1800" b="1" dirty="0">
              <a:solidFill>
                <a:srgbClr val="186AB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1399032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3324B"/>
                </a:solidFill>
                <a:latin typeface="Aptos"/>
              </a:rPr>
              <a:t>Bối cảnh &amp;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6AB7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21992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3324B"/>
                </a:solidFill>
                <a:latin typeface="Aptos"/>
              </a:rPr>
              <a:t>Cơ sở &amp; mô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5943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 dirty="0">
                <a:solidFill>
                  <a:srgbClr val="186AB7"/>
                </a:solidFill>
                <a:latin typeface="Aptos"/>
              </a:rPr>
              <a:t>3</a:t>
            </a:r>
            <a:endParaRPr sz="1800" b="1" dirty="0">
              <a:solidFill>
                <a:srgbClr val="186AB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3044952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3324B"/>
                </a:solidFill>
                <a:latin typeface="Aptos"/>
              </a:rPr>
              <a:t>Prototype &amp; giao diện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5943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 dirty="0">
                <a:solidFill>
                  <a:srgbClr val="186AB7"/>
                </a:solidFill>
                <a:latin typeface="Aptos"/>
              </a:rPr>
              <a:t>4</a:t>
            </a:r>
            <a:endParaRPr sz="1800" b="1" dirty="0">
              <a:solidFill>
                <a:srgbClr val="186AB7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45920" y="3867912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3324B"/>
                </a:solidFill>
                <a:latin typeface="Aptos"/>
              </a:rPr>
              <a:t>Thực nghiệm &amp; đánh giá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5943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 dirty="0">
                <a:solidFill>
                  <a:srgbClr val="186AB7"/>
                </a:solidFill>
                <a:latin typeface="Aptos"/>
              </a:rPr>
              <a:t>5</a:t>
            </a:r>
            <a:endParaRPr sz="1800" b="1" dirty="0">
              <a:solidFill>
                <a:srgbClr val="186AB7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45920" y="4690872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3324B"/>
                </a:solidFill>
                <a:latin typeface="Aptos"/>
              </a:rPr>
              <a:t>Kết luận &amp; hướng phát triển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00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30832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3429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rgbClr val="142D5A"/>
                </a:solidFill>
                <a:latin typeface="Aptos"/>
              </a:rPr>
              <a:t>Nghiên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cứu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liên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quan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&amp;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vấn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đề</a:t>
            </a:r>
            <a:endParaRPr sz="2700" b="1" dirty="0">
              <a:solidFill>
                <a:srgbClr val="142D5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75720" y="6400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ptos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985" y="1384540"/>
            <a:ext cx="2836365" cy="3263373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69578" y="1463039"/>
            <a:ext cx="2560394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 err="1">
                <a:solidFill>
                  <a:srgbClr val="1B65AA"/>
                </a:solidFill>
                <a:latin typeface="Aptos"/>
              </a:rPr>
              <a:t>Vấn</a:t>
            </a:r>
            <a:r>
              <a:rPr sz="1700" b="1" dirty="0">
                <a:solidFill>
                  <a:srgbClr val="1B65AA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B65AA"/>
                </a:solidFill>
                <a:latin typeface="Aptos"/>
              </a:rPr>
              <a:t>đề</a:t>
            </a:r>
            <a:endParaRPr sz="1700" b="1" dirty="0">
              <a:solidFill>
                <a:srgbClr val="1B65AA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970" y="2018504"/>
            <a:ext cx="2560394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solidFill>
                  <a:srgbClr val="2D3746"/>
                </a:solidFill>
                <a:latin typeface="Aptos"/>
              </a:rPr>
              <a:t>Biểu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mẫu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hành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chính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dài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Thuật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ngữ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khó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Nhiều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trường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phải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điền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Dễ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nhập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sai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/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bỏ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sót</a:t>
            </a:r>
            <a:endParaRPr sz="1600" b="0" dirty="0">
              <a:solidFill>
                <a:srgbClr val="2D374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165508" y="1328467"/>
            <a:ext cx="2836365" cy="3263373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0101" y="1465626"/>
            <a:ext cx="2560394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Đối tượng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0101" y="1895394"/>
            <a:ext cx="2560394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solidFill>
                  <a:srgbClr val="2D3746"/>
                </a:solidFill>
                <a:latin typeface="Aptos"/>
              </a:rPr>
              <a:t>Người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lớn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tuổi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
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Người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ít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quen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với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dịch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vụ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trực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tuyến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
→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cần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giao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diện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đơn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giản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dễ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đọc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ít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thao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tác</a:t>
            </a:r>
            <a:endParaRPr sz="1600" b="0" dirty="0">
              <a:solidFill>
                <a:srgbClr val="2D374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26031" y="1325880"/>
            <a:ext cx="2836365" cy="3263373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0623" y="1463039"/>
            <a:ext cx="2560394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Hướng tiếp cận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0623" y="1892807"/>
            <a:ext cx="2560394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D3746"/>
                </a:solidFill>
                <a:latin typeface="Aptos"/>
              </a:rPr>
              <a:t>Conversational UI
NLP Mapping
Voice
OCR
→ “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dịch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”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ngôn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ngữ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hành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chính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thành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hội</a:t>
            </a:r>
            <a:r>
              <a:rPr sz="1600" b="0" dirty="0">
                <a:solidFill>
                  <a:srgbClr val="2D37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D3746"/>
                </a:solidFill>
                <a:latin typeface="Aptos"/>
              </a:rPr>
              <a:t>thoại</a:t>
            </a:r>
            <a:endParaRPr sz="1600" b="0" dirty="0">
              <a:solidFill>
                <a:srgbClr val="2D3746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-556062" y="5095194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375F"/>
                </a:solidFill>
                <a:latin typeface="Aptos"/>
              </a:rPr>
              <a:t>Insight thiết kế: giảm gánh nặng đọc hiểu nhưng vẫn giữ đúng cấu trúc dữ liệu của hồ sơ.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4254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rgbClr val="142D5A"/>
                </a:solidFill>
                <a:latin typeface="Aptos"/>
              </a:rPr>
              <a:t>Mô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hình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đề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xuất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– Conversational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8565" y="633178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ptos"/>
              </a:rPr>
              <a:t>5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rcRect l="16666" r="16038"/>
          <a:stretch>
            <a:fillRect/>
          </a:stretch>
        </p:blipFill>
        <p:spPr>
          <a:xfrm>
            <a:off x="0" y="1669212"/>
            <a:ext cx="3692106" cy="33212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33645" y="1211148"/>
            <a:ext cx="4754880" cy="1051560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98237" y="1348307"/>
            <a:ext cx="4425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1 • Hỏi từng trường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8237" y="1778076"/>
            <a:ext cx="442569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Bot chuyển field → câu hỏi ngắn, thân thiện.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3645" y="2491308"/>
            <a:ext cx="4754880" cy="1051560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98237" y="2628467"/>
            <a:ext cx="4425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2 • Trả lời tự nhiên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8237" y="3058236"/>
            <a:ext cx="442569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Một câu có thể chứa nhiều thông 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3645" y="3771468"/>
            <a:ext cx="4754880" cy="1051560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98237" y="3908628"/>
            <a:ext cx="4425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3 • NLP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8237" y="4338396"/>
            <a:ext cx="442569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Trích xuất entity → ánh xạ vào field.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3645" y="5188788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93C64"/>
                </a:solidFill>
                <a:latin typeface="Aptos"/>
              </a:rPr>
              <a:t>Cuối luồng: kiểm tra → sửa → xác nhận → nộp.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rgbClr val="142D5A"/>
                </a:solidFill>
                <a:latin typeface="Aptos"/>
              </a:rPr>
              <a:t>Mô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hình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đề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xuất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–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Kiến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trúc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hệ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thống</a:t>
            </a:r>
            <a:endParaRPr sz="2700" b="1" dirty="0">
              <a:solidFill>
                <a:srgbClr val="142D5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75720" y="6400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ptos"/>
              </a:rPr>
              <a:t>6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rcRect l="3583"/>
          <a:stretch>
            <a:fillRect/>
          </a:stretch>
        </p:blipFill>
        <p:spPr>
          <a:xfrm>
            <a:off x="0" y="1328035"/>
            <a:ext cx="5975346" cy="354966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62512" y="1190874"/>
            <a:ext cx="3108960" cy="1051561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27104" y="1328035"/>
            <a:ext cx="28144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27104" y="1757803"/>
            <a:ext cx="28144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Vue.js 3 + UI/CSS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62512" y="2471034"/>
            <a:ext cx="3108960" cy="1051561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27104" y="2608195"/>
            <a:ext cx="28144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7104" y="3037963"/>
            <a:ext cx="28144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Python + 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62512" y="3751194"/>
            <a:ext cx="3108960" cy="1051561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27104" y="3888355"/>
            <a:ext cx="28144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NLP /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7104" y="4318123"/>
            <a:ext cx="28144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Regex mapping +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62512" y="5031354"/>
            <a:ext cx="3108960" cy="868681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27104" y="5168515"/>
            <a:ext cx="28144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Voice /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7104" y="5598283"/>
            <a:ext cx="28144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Web Speech API • TTS • Tesseract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748" y="312525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rgbClr val="142D5A"/>
                </a:solidFill>
                <a:latin typeface="Aptos"/>
              </a:rPr>
              <a:t>Thực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nghiệm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&amp;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đánh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giá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–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00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ptos"/>
              </a:rPr>
              <a:t>7</a:t>
            </a:r>
          </a:p>
        </p:txBody>
      </p:sp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923" y="1003427"/>
            <a:ext cx="2399869" cy="2366676"/>
          </a:xfrm>
          <a:prstGeom prst="rect">
            <a:avLst/>
          </a:prstGeom>
        </p:spPr>
      </p:pic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339" y="3720678"/>
            <a:ext cx="2743200" cy="2314362"/>
          </a:xfrm>
          <a:prstGeom prst="rect">
            <a:avLst/>
          </a:prstGeom>
        </p:spPr>
      </p:pic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731" y="971444"/>
            <a:ext cx="2226097" cy="2457556"/>
          </a:xfrm>
          <a:prstGeom prst="rect">
            <a:avLst/>
          </a:prstGeom>
        </p:spPr>
      </p:pic>
      <p:pic>
        <p:nvPicPr>
          <p:cNvPr id="8" name="Picture 7" descr="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179" y="3660562"/>
            <a:ext cx="2743200" cy="22945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8257" y="338624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323C46"/>
                </a:solidFill>
                <a:latin typeface="Aptos"/>
              </a:rPr>
              <a:t>Trang </a:t>
            </a:r>
            <a:r>
              <a:rPr sz="1100" b="1" dirty="0" err="1">
                <a:solidFill>
                  <a:srgbClr val="323C46"/>
                </a:solidFill>
                <a:latin typeface="Aptos"/>
              </a:rPr>
              <a:t>đầu</a:t>
            </a:r>
            <a:endParaRPr sz="1100" b="1" dirty="0">
              <a:solidFill>
                <a:srgbClr val="323C46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8257" y="60951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323C46"/>
                </a:solidFill>
                <a:latin typeface="Aptos"/>
              </a:rPr>
              <a:t>Conversational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8619" y="33638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323C46"/>
                </a:solidFill>
                <a:latin typeface="Aptos"/>
              </a:rPr>
              <a:t>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6054091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323C46"/>
                </a:solidFill>
                <a:latin typeface="Aptos"/>
              </a:rPr>
              <a:t>Form Preview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198" y="333496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rgbClr val="142D5A"/>
                </a:solidFill>
                <a:latin typeface="Aptos"/>
              </a:rPr>
              <a:t>Thực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nghiệm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&amp;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đánh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giá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– OCR →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kiểm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tra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→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nộp</a:t>
            </a:r>
            <a:endParaRPr sz="2700" b="1" dirty="0">
              <a:solidFill>
                <a:srgbClr val="142D5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75720" y="6400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ptos"/>
              </a:rPr>
              <a:t>8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98" y="1165429"/>
            <a:ext cx="3844154" cy="4243852"/>
          </a:xfrm>
          <a:prstGeom prst="rect">
            <a:avLst/>
          </a:prstGeom>
        </p:spPr>
      </p:pic>
      <p:pic>
        <p:nvPicPr>
          <p:cNvPr id="6" name="Picture 5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925" y="1272596"/>
            <a:ext cx="4790631" cy="39006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365760" y="5528180"/>
            <a:ext cx="49377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94169"/>
                </a:solidFill>
                <a:latin typeface="Aptos"/>
              </a:rPr>
              <a:t>OCR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đọc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dữ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liệu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từ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ảnh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→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người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dùng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chọn</a:t>
            </a:r>
            <a:endParaRPr lang="en-US" sz="1400" b="1" dirty="0">
              <a:solidFill>
                <a:srgbClr val="194169"/>
              </a:solidFill>
              <a:latin typeface="Aptos"/>
            </a:endParaRPr>
          </a:p>
          <a:p>
            <a:pPr algn="ctr"/>
            <a:r>
              <a:rPr sz="1400" b="1" dirty="0">
                <a:solidFill>
                  <a:srgbClr val="194169"/>
                </a:solidFill>
                <a:latin typeface="Aptos"/>
              </a:rPr>
              <a:t>“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Dùng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thông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tin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này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5499425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94169"/>
                </a:solidFill>
                <a:latin typeface="Aptos"/>
              </a:rPr>
              <a:t>Sau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xác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nhận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→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hồ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sơ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94169"/>
                </a:solidFill>
                <a:latin typeface="Aptos"/>
              </a:rPr>
              <a:t>chuyển</a:t>
            </a:r>
            <a:r>
              <a:rPr sz="1400" b="1" dirty="0">
                <a:solidFill>
                  <a:srgbClr val="194169"/>
                </a:solidFill>
                <a:latin typeface="Aptos"/>
              </a:rPr>
              <a:t> sang READ-ONLY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817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D5A"/>
                </a:solidFill>
                <a:latin typeface="Aptos"/>
              </a:rPr>
              <a:t>Thực nghiệm &amp; đánh giá – Công nghệ &amp; kiểm thử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00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ptos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468435"/>
              </p:ext>
            </p:extLst>
          </p:nvPr>
        </p:nvGraphicFramePr>
        <p:xfrm>
          <a:off x="405442" y="1517904"/>
          <a:ext cx="4978305" cy="391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9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22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Thành phần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Công nghệ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Vai trò</a:t>
                      </a:r>
                    </a:p>
                  </a:txBody>
                  <a:tcPr marL="73152" marR="7315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2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Frontend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Vue.js 3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UI + tương tác</a:t>
                      </a:r>
                    </a:p>
                  </a:txBody>
                  <a:tcPr marL="73152" marR="731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2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Backend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 err="1"/>
                        <a:t>FastAPI</a:t>
                      </a:r>
                      <a:endParaRPr dirty="0"/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REST API</a:t>
                      </a:r>
                    </a:p>
                  </a:txBody>
                  <a:tcPr marL="73152" marR="731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2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NLP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Python / Regex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Mapping field</a:t>
                      </a:r>
                    </a:p>
                  </a:txBody>
                  <a:tcPr marL="73152" marR="731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2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OCR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Tesseract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Đọc ảnh</a:t>
                      </a:r>
                    </a:p>
                  </a:txBody>
                  <a:tcPr marL="73152" marR="7315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2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Voice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Web Speech / edge-tts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 err="1"/>
                        <a:t>Nhập</a:t>
                      </a:r>
                      <a:r>
                        <a:rPr dirty="0"/>
                        <a:t> &amp; </a:t>
                      </a:r>
                      <a:r>
                        <a:rPr dirty="0" err="1"/>
                        <a:t>đọc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tiếng</a:t>
                      </a:r>
                      <a:r>
                        <a:rPr dirty="0"/>
                        <a:t> Việt</a:t>
                      </a:r>
                    </a:p>
                  </a:txBody>
                  <a:tcPr marL="73152" marR="7315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761583" y="1342444"/>
            <a:ext cx="3071866" cy="2011680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26175" y="1479604"/>
            <a:ext cx="4242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Dữ liệu kiểm thử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6175" y="1909372"/>
            <a:ext cx="4242816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TC01: Nguyễn Văn Minh → name
TC02: Tôi sinh năm 1962 → birth_year
TC03: Một câu → name + birth_year
TC04–TC05: biến thể ngày/năm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1583" y="3582724"/>
            <a:ext cx="3071866" cy="2240280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26175" y="3719883"/>
            <a:ext cx="4242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Tiêu chí đánh giá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6175" y="4149652"/>
            <a:ext cx="424281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Đúng luồng
NLP Mapping
Xử lý thiếu dữ liệu
Xác nhận / sửa
Khả năng tiếp cận
Responsive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494" y="274320"/>
            <a:ext cx="8314139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rgbClr val="142D5A"/>
                </a:solidFill>
                <a:latin typeface="Aptos"/>
              </a:rPr>
              <a:t>Thực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nghiệm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&amp;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đánh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giá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– UI/UX &amp;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khả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năng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tiếp</a:t>
            </a:r>
            <a:r>
              <a:rPr sz="2700" b="1" dirty="0">
                <a:solidFill>
                  <a:srgbClr val="142D5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D5A"/>
                </a:solidFill>
                <a:latin typeface="Aptos"/>
              </a:rPr>
              <a:t>cận</a:t>
            </a:r>
            <a:endParaRPr sz="2700" b="1" dirty="0">
              <a:solidFill>
                <a:srgbClr val="142D5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75720" y="6400800"/>
            <a:ext cx="228075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3829" y="1314102"/>
            <a:ext cx="2411083" cy="1628667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8421" y="1451262"/>
            <a:ext cx="2176491" cy="3619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CHỮ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421" y="1881030"/>
            <a:ext cx="217649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Lớn • đậm • dễ đọc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9537" y="1314102"/>
            <a:ext cx="2411083" cy="1628667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24128" y="1451262"/>
            <a:ext cx="2176491" cy="3619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NÚT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4128" y="1881030"/>
            <a:ext cx="2176491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Kích thước lớn • khoảng cách rộng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5245" y="1314102"/>
            <a:ext cx="2411083" cy="1628667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9837" y="1451262"/>
            <a:ext cx="2176491" cy="3619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HỘI THOẠI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9837" y="1881030"/>
            <a:ext cx="217649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Câu ngắn • ít thuật ngữ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3829" y="3462942"/>
            <a:ext cx="2411083" cy="1628667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8421" y="3600102"/>
            <a:ext cx="2176491" cy="3619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421" y="4029870"/>
            <a:ext cx="217649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Đọc câu hỏi • nhập giọng nói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9537" y="3462942"/>
            <a:ext cx="2411083" cy="1628667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24128" y="3600102"/>
            <a:ext cx="2176491" cy="3619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TRẠNG THÁI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4128" y="4029870"/>
            <a:ext cx="217649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Tiến độ • xác nhận • read-only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05245" y="3462942"/>
            <a:ext cx="2411083" cy="1628667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9837" y="3600102"/>
            <a:ext cx="2176491" cy="3619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SỬA LỖI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9837" y="4029870"/>
            <a:ext cx="2176491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Cho phép kiểm tra và chỉnh sửa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23560"/>
            <a:ext cx="7298413" cy="5881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3C64"/>
                </a:solidFill>
                <a:latin typeface="Aptos"/>
              </a:rPr>
              <a:t>Kết luận đánh giá: prototype có luồng MVP rõ ràng; cần usability testing với người dùng thật để có số liệu định lượng.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D5A"/>
                </a:solidFill>
                <a:latin typeface="Aptos"/>
              </a:rPr>
              <a:t>Kết luận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00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7684" y="1234440"/>
            <a:ext cx="4362378" cy="3648111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2276" y="1371600"/>
            <a:ext cx="46542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KẾT LUẬN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276" y="1801368"/>
            <a:ext cx="4654296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 err="1">
                <a:solidFill>
                  <a:srgbClr val="2D3746"/>
                </a:solidFill>
                <a:latin typeface="Aptos"/>
              </a:rPr>
              <a:t>ClearGov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là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lớp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giao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diện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trung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gian</a:t>
            </a:r>
            <a:r>
              <a:rPr b="0" dirty="0">
                <a:solidFill>
                  <a:srgbClr val="2D3746"/>
                </a:solidFill>
                <a:latin typeface="Aptos"/>
              </a:rPr>
              <a:t>:
•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Biến</a:t>
            </a:r>
            <a:r>
              <a:rPr b="0" dirty="0">
                <a:solidFill>
                  <a:srgbClr val="2D3746"/>
                </a:solidFill>
                <a:latin typeface="Aptos"/>
              </a:rPr>
              <a:t> field →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câu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hỏi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dễ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hiểu</a:t>
            </a:r>
            <a:r>
              <a:rPr b="0" dirty="0">
                <a:solidFill>
                  <a:srgbClr val="2D3746"/>
                </a:solidFill>
                <a:latin typeface="Aptos"/>
              </a:rPr>
              <a:t>
•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Nhận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câu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trả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lời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tự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nhiên</a:t>
            </a:r>
            <a:r>
              <a:rPr b="0" dirty="0">
                <a:solidFill>
                  <a:srgbClr val="2D3746"/>
                </a:solidFill>
                <a:latin typeface="Aptos"/>
              </a:rPr>
              <a:t>
• NLP mapping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vào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biểu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mẫu</a:t>
            </a:r>
            <a:r>
              <a:rPr b="0" dirty="0">
                <a:solidFill>
                  <a:srgbClr val="2D3746"/>
                </a:solidFill>
                <a:latin typeface="Aptos"/>
              </a:rPr>
              <a:t>
• OCR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hỗ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trợ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lấy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dữ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liệu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từ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ảnh</a:t>
            </a:r>
            <a:r>
              <a:rPr b="0" dirty="0">
                <a:solidFill>
                  <a:srgbClr val="2D3746"/>
                </a:solidFill>
                <a:latin typeface="Aptos"/>
              </a:rPr>
              <a:t>
•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Kiểm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tra</a:t>
            </a:r>
            <a:r>
              <a:rPr b="0" dirty="0">
                <a:solidFill>
                  <a:srgbClr val="2D3746"/>
                </a:solidFill>
                <a:latin typeface="Aptos"/>
              </a:rPr>
              <a:t> /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sửa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trước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xác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nhận</a:t>
            </a:r>
            <a:r>
              <a:rPr b="0" dirty="0">
                <a:solidFill>
                  <a:srgbClr val="2D3746"/>
                </a:solidFill>
                <a:latin typeface="Aptos"/>
              </a:rPr>
              <a:t>
•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Thiết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kế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ưu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tiên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người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lớn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tuổi</a:t>
            </a:r>
            <a:endParaRPr b="0" dirty="0">
              <a:solidFill>
                <a:srgbClr val="2D374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33940" y="1234440"/>
            <a:ext cx="4362378" cy="3648111"/>
          </a:xfrm>
          <a:prstGeom prst="roundRect">
            <a:avLst/>
          </a:prstGeom>
          <a:solidFill>
            <a:srgbClr val="F8FA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98532" y="1371600"/>
            <a:ext cx="46542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5AA"/>
                </a:solidFill>
                <a:latin typeface="Aptos"/>
              </a:rPr>
              <a:t>HƯỚNG PHÁT TRIỂN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8532" y="1801368"/>
            <a:ext cx="4654296" cy="2031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2D3746"/>
                </a:solidFill>
                <a:latin typeface="Aptos"/>
              </a:rPr>
              <a:t>01 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Nhiều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loại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thủ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tục</a:t>
            </a:r>
            <a:r>
              <a:rPr b="0" dirty="0">
                <a:solidFill>
                  <a:srgbClr val="2D3746"/>
                </a:solidFill>
                <a:latin typeface="Aptos"/>
              </a:rPr>
              <a:t>
02 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Cấu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hình</a:t>
            </a:r>
            <a:r>
              <a:rPr b="0" dirty="0">
                <a:solidFill>
                  <a:srgbClr val="2D3746"/>
                </a:solidFill>
                <a:latin typeface="Aptos"/>
              </a:rPr>
              <a:t> field /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câu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hỏi</a:t>
            </a:r>
            <a:r>
              <a:rPr b="0" dirty="0">
                <a:solidFill>
                  <a:srgbClr val="2D3746"/>
                </a:solidFill>
                <a:latin typeface="Aptos"/>
              </a:rPr>
              <a:t>
03  NLP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mạnh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hơn</a:t>
            </a:r>
            <a:r>
              <a:rPr b="0" dirty="0">
                <a:solidFill>
                  <a:srgbClr val="2D3746"/>
                </a:solidFill>
                <a:latin typeface="Aptos"/>
              </a:rPr>
              <a:t>
04  OCR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chính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xác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hơn</a:t>
            </a:r>
            <a:r>
              <a:rPr b="0" dirty="0">
                <a:solidFill>
                  <a:srgbClr val="2D3746"/>
                </a:solidFill>
                <a:latin typeface="Aptos"/>
              </a:rPr>
              <a:t>
05  Database +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xuất</a:t>
            </a:r>
            <a:r>
              <a:rPr b="0" dirty="0">
                <a:solidFill>
                  <a:srgbClr val="2D3746"/>
                </a:solidFill>
                <a:latin typeface="Aptos"/>
              </a:rPr>
              <a:t> PDF
06 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Tích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hợp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cổng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dịch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vụ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công</a:t>
            </a:r>
            <a:r>
              <a:rPr b="0" dirty="0">
                <a:solidFill>
                  <a:srgbClr val="2D3746"/>
                </a:solidFill>
                <a:latin typeface="Aptos"/>
              </a:rPr>
              <a:t>
07  Usability testing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định</a:t>
            </a:r>
            <a:r>
              <a:rPr b="0" dirty="0">
                <a:solidFill>
                  <a:srgbClr val="2D3746"/>
                </a:solidFill>
                <a:latin typeface="Aptos"/>
              </a:rPr>
              <a:t> </a:t>
            </a:r>
            <a:r>
              <a:rPr b="0" dirty="0" err="1">
                <a:solidFill>
                  <a:srgbClr val="2D3746"/>
                </a:solidFill>
                <a:latin typeface="Aptos"/>
              </a:rPr>
              <a:t>lượng</a:t>
            </a:r>
            <a:endParaRPr b="0" dirty="0">
              <a:solidFill>
                <a:srgbClr val="2D374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-760850" y="5486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193C64"/>
                </a:solidFill>
                <a:latin typeface="Aptos"/>
              </a:rPr>
              <a:t>MVP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hiện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tại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là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nền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tảng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để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mở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rộng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thành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trợ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lý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thủ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tục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hành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C64"/>
                </a:solidFill>
                <a:latin typeface="Aptos"/>
              </a:rPr>
              <a:t>chính</a:t>
            </a:r>
            <a:r>
              <a:rPr sz="1700" b="1" dirty="0">
                <a:solidFill>
                  <a:srgbClr val="193C64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777240" y="17856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dirty="0">
                <a:solidFill>
                  <a:srgbClr val="1156A0"/>
                </a:solidFill>
                <a:latin typeface="Aptos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777240" y="270006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E3250"/>
                </a:solidFill>
                <a:latin typeface="Aptos"/>
              </a:rPr>
              <a:t>ClearGov – Công cụ đơn giản hóa thủ tục hành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777240" y="32944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A5F69"/>
                </a:solidFill>
                <a:latin typeface="Aptos"/>
              </a:rPr>
              <a:t>Nhóm 15  •  Thiết kế giao diện người dùng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35766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89994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180626e-9302-4c14-8eea-5903bff38f2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D0FC4D0C9C60FF42830FD6301F804C7C" ma:contentTypeVersion="13" ma:contentTypeDescription="Tạo tài liệu mới." ma:contentTypeScope="" ma:versionID="ee11ff9a12fa5fd5ebba96cb5dae6dc5">
  <xsd:schema xmlns:xsd="http://www.w3.org/2001/XMLSchema" xmlns:xs="http://www.w3.org/2001/XMLSchema" xmlns:p="http://schemas.microsoft.com/office/2006/metadata/properties" xmlns:ns3="a180626e-9302-4c14-8eea-5903bff38f28" xmlns:ns4="70b93575-3f7a-4eb4-8cdb-228fc5024abe" targetNamespace="http://schemas.microsoft.com/office/2006/metadata/properties" ma:root="true" ma:fieldsID="568e657df8e72eb7ae2a45e3c6bca7d4" ns3:_="" ns4:_="">
    <xsd:import namespace="a180626e-9302-4c14-8eea-5903bff38f28"/>
    <xsd:import namespace="70b93575-3f7a-4eb4-8cdb-228fc5024ab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80626e-9302-4c14-8eea-5903bff38f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b93575-3f7a-4eb4-8cdb-228fc5024ab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hia sẻ Với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hia sẻ Có Chi tiết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àm băm Gợi ý Chia sẻ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22FC6B-DD1F-45E2-9C9C-7BF43824AC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C4C99A-1E0A-43B1-9616-0C2F59CB1038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70b93575-3f7a-4eb4-8cdb-228fc5024abe"/>
    <ds:schemaRef ds:uri="a180626e-9302-4c14-8eea-5903bff38f28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FE497AA-7AD6-4712-83D0-91800995C9B2}">
  <ds:schemaRefs>
    <ds:schemaRef ds:uri="70b93575-3f7a-4eb4-8cdb-228fc5024abe"/>
    <ds:schemaRef ds:uri="a180626e-9302-4c14-8eea-5903bff38f2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676</TotalTime>
  <Words>736</Words>
  <Application>Microsoft Office PowerPoint</Application>
  <PresentationFormat>On-screen Show (4:3)</PresentationFormat>
  <Paragraphs>111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Arial Nova Cond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Ung Van, Giau</dc:creator>
  <cp:lastModifiedBy>Phạm Nguyễn Đăng Duy</cp:lastModifiedBy>
  <cp:revision>28</cp:revision>
  <dcterms:created xsi:type="dcterms:W3CDTF">2018-07-22T00:13:03Z</dcterms:created>
  <dcterms:modified xsi:type="dcterms:W3CDTF">2026-08-15T04:56:20Z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0x010100D0FC4D0C9C60FF42830FD6301F804C7C</vt:lpwstr>
  </property>
</Properties>
</file>